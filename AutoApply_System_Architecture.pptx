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 Black"/>
              </a:defRPr>
            </a:pPr>
            <a:r>
              <a:t>AUTOAPPLY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ADCFC"/>
                </a:solidFill>
                <a:latin typeface="Calibri"/>
              </a:defRPr>
            </a:pPr>
            <a:r>
              <a:t>System Architecture &amp; Technical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AI-Powered Job Application Tool  |  Technical Product Manager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Prepared by Kiran Shahi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HIGH-LEVEL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9202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920240" cy="32004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39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Browser / Chrome</a:t>
            </a:r>
            <a:br/>
            <a:r>
              <a:t>Extension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95728" y="2834640"/>
            <a:ext cx="283464" cy="32004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97480" y="2011680"/>
            <a:ext cx="19202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2011680"/>
            <a:ext cx="192024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039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Next.js 14</a:t>
            </a:r>
            <a:br/>
            <a:r>
              <a:t>React + Tailwind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636008" y="2834640"/>
            <a:ext cx="283464" cy="32004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937760" y="2011680"/>
            <a:ext cx="19202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2011680"/>
            <a:ext cx="1920240" cy="3200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039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Next.js API Routes</a:t>
            </a:r>
            <a:br/>
            <a:r>
              <a:t>Server-side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876288" y="2834640"/>
            <a:ext cx="283464" cy="32004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2011680"/>
            <a:ext cx="19202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8040" y="2011680"/>
            <a:ext cx="1920240" cy="32004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039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Claude API</a:t>
            </a:r>
            <a:br/>
            <a:r>
              <a:t>(Anthropic)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16568" y="2834640"/>
            <a:ext cx="283464" cy="32004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18320" y="2011680"/>
            <a:ext cx="19202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20" y="2011680"/>
            <a:ext cx="1920240" cy="3200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0391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56032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A1A2E"/>
                </a:solidFill>
                <a:latin typeface="Calibri"/>
              </a:defRPr>
            </a:pPr>
            <a:r>
              <a:t>Vercel</a:t>
            </a:r>
            <a:br/>
            <a:r>
              <a:t>Auto-deploy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B8D"/>
                </a:solidFill>
                <a:latin typeface="Calibri"/>
              </a:defRPr>
            </a:pPr>
            <a:r>
              <a:t>Data Flow:  Resume + Job Description  →  Parse &amp; Analyze  →  AI Tailoring  →  Tailored Resume + Cover Letter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20640"/>
            <a:ext cx="11247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120640"/>
            <a:ext cx="73152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761"/>
                </a:solidFill>
                <a:latin typeface="Calibri"/>
              </a:defRPr>
            </a:pPr>
            <a:r>
              <a:t>VERSION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alibri"/>
              </a:defRPr>
            </a:pPr>
            <a:r>
              <a:t>GitHub Repository (harshitjaiswal-pm/AutoapplyAi)  →  Push triggers Vercel auto-deploy  →  Live at production URL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320040" cy="3200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Frontend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Next.js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React-based framework with file-system routing,</a:t>
            </a:r>
            <a:br/>
            <a:r>
              <a:t>server-side rendering, and built-in API routes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00200"/>
            <a:ext cx="320040" cy="32004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03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Type-safe JavaScript that catches bugs before runtime.</a:t>
            </a:r>
            <a:br/>
            <a:r>
              <a:t>All .tsx and .ts files in the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632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29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94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Utility-first CSS framework. Classes like</a:t>
            </a:r>
            <a:br/>
            <a:r>
              <a:t>bg-blue-500, text-white directly in 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329184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429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Claude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7947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Anthropic's LLM for resume parsing, job analysis,</a:t>
            </a:r>
            <a:br/>
            <a:r>
              <a:t>and intelligent resume tailoring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5488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" y="4983480"/>
            <a:ext cx="320040" cy="32004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State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20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864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Lightweight store for sharing data between</a:t>
            </a:r>
            <a:br/>
            <a:r>
              <a:t>components (resume data, job analysis, etc.)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75488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4983480"/>
            <a:ext cx="320040" cy="320040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120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4864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Auto-deploys from GitHub. Every push to main</a:t>
            </a:r>
            <a:br/>
            <a:r>
              <a:t>goes live within ~60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PAGES (URL Routes)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onsolas"/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55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Home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Landing page with product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2316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onsolas"/>
              </a:defRPr>
            </a:pPr>
            <a:r>
              <a:t>/tailor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414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Tailor Resume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3-step workflow: paste resume → paste JD → get tailored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27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onsolas"/>
              </a:defRPr>
            </a:pPr>
            <a:r>
              <a:t>/dashboard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127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83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Track all applications and tailored resumes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94760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130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onsolas"/>
              </a:defRPr>
            </a:pPr>
            <a:r>
              <a:t>/pipeline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8130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Visual pipeline of job application stages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8056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480560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988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onsolas"/>
              </a:defRPr>
            </a:pPr>
            <a:r>
              <a:t>/onboarding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4988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New user setup and configuration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66360"/>
            <a:ext cx="5029200" cy="548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166360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184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onsolas"/>
              </a:defRPr>
            </a:pPr>
            <a:r>
              <a:t>/auth/signin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1846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Sign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40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Authentication via NextAuth.js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COMPONENTS (Reusable UI)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73736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1938528"/>
            <a:ext cx="274320" cy="2743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1783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ResumeUploader.tsx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Handles resume text input and PDF upload parsing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265176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2852928"/>
            <a:ext cx="274320" cy="27432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26974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JobAnalyzer.tsx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017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Job description input and AI-powered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56616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3767328"/>
            <a:ext cx="274320" cy="27432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6118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TailorEngine.tsx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931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Core tailoring UI — sends data to AI, displays results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48056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00800" y="4681728"/>
            <a:ext cx="274320" cy="274320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45262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NavLinks.tsx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846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Navigation bar with route links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5394960"/>
            <a:ext cx="530352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00800" y="5596128"/>
            <a:ext cx="274320" cy="274320"/>
          </a:xfrm>
          <a:prstGeom prst="ellipse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54406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NavAuth.tsx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5760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Authentication status and sign in/out buttons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BACKEND API ROUTES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59436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53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/api/parse-resume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91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Extracts structured data from raw resume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9436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8988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3533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/api/analyze-job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91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Analyzes job description for key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8600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2423160"/>
            <a:ext cx="59436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39572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359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/api/tailor-resume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697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AI generates tailored resume matching the JD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28600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423160"/>
            <a:ext cx="59436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39572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359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697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Interactive AI chat for resume Q&amp;A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429000"/>
            <a:ext cx="59436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4015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3649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/api/upload-resume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Handles file upload and parsing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9184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429000"/>
            <a:ext cx="59436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40156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3649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/api/answer-custom-question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AI answers custom application questions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29768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4360" y="4434840"/>
            <a:ext cx="594360" cy="228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40740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/api/user/resume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Retrieves saved user resume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29768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5080" y="4434840"/>
            <a:ext cx="59436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40740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/api/export-resume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Exports tailored resume to downloadable format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30352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" y="5440680"/>
            <a:ext cx="59436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41324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5376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/api/export-cover-letter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Exports generated cover letter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303520"/>
            <a:ext cx="539496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55080" y="5440680"/>
            <a:ext cx="59436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80" y="5413248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5376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Consolas"/>
              </a:defRPr>
            </a:pPr>
            <a:r>
              <a:t>/api/export-jd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Calibri"/>
              </a:defRPr>
            </a:pPr>
            <a:r>
              <a:t>Exports job description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USER JOURNEY &amp; DATA FLOW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4630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94560"/>
            <a:ext cx="17830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17830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UPLOAD</a:t>
            </a:r>
            <a:br/>
            <a:r>
              <a:t>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User pastes resume text</a:t>
            </a:r>
            <a:br/>
            <a:r>
              <a:t>or uploads PDF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57400" y="3200400"/>
            <a:ext cx="182880" cy="22860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34639" y="1463040"/>
            <a:ext cx="502920" cy="50292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79" y="2194560"/>
            <a:ext cx="17830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79" y="2194560"/>
            <a:ext cx="1783080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19" y="2423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PARSE</a:t>
            </a:r>
            <a:br/>
            <a:r>
              <a:t>RESUME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19" y="32004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AI extracts skills,</a:t>
            </a:r>
            <a:br/>
            <a:r>
              <a:t>experience, education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59" y="3200400"/>
            <a:ext cx="182880" cy="22860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463040"/>
            <a:ext cx="502920" cy="50292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194560"/>
            <a:ext cx="17830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194560"/>
            <a:ext cx="178308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423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PASTE JOB</a:t>
            </a:r>
            <a:br/>
            <a:r>
              <a:t>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2004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User provides target</a:t>
            </a:r>
            <a:br/>
            <a:r>
              <a:t>job posting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89320" y="3200400"/>
            <a:ext cx="182880" cy="22860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66559" y="1463040"/>
            <a:ext cx="502920" cy="50292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59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199" y="2194560"/>
            <a:ext cx="17830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199" y="2194560"/>
            <a:ext cx="1783080" cy="54864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39" y="2423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ANALYZE</a:t>
            </a:r>
            <a:br/>
            <a:r>
              <a:t>JOB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39" y="32004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AI identifies key</a:t>
            </a:r>
            <a:br/>
            <a:r>
              <a:t>requirements &amp; skills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955279" y="3200400"/>
            <a:ext cx="182880" cy="22860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32520" y="14630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2194560"/>
            <a:ext cx="17830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2194560"/>
            <a:ext cx="178308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2423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TAILOR</a:t>
            </a:r>
            <a:br/>
            <a:r>
              <a:t>RESUME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2004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AI rewrites resume to</a:t>
            </a:r>
            <a:br/>
            <a:r>
              <a:t>match job requirements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921240" y="3200400"/>
            <a:ext cx="182880" cy="22860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98480" y="1463040"/>
            <a:ext cx="502920" cy="5029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14813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04120" y="2194560"/>
            <a:ext cx="178308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04120" y="2194560"/>
            <a:ext cx="17830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95560" y="2423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EXPORT &amp;</a:t>
            </a:r>
            <a:br/>
            <a:r>
              <a:t>APPLY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3200400"/>
            <a:ext cx="1600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D"/>
                </a:solidFill>
                <a:latin typeface="Calibri"/>
              </a:defRPr>
            </a:pPr>
            <a:r>
              <a:t>Download tailored resume</a:t>
            </a:r>
            <a:br/>
            <a:r>
              <a:t>and cover letter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120640"/>
            <a:ext cx="112471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5120640"/>
            <a:ext cx="73152" cy="10972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STATE MANAGEMENT (Zustand Store)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useAppStore.ts maintains global state across all steps: parsed resume data, job analysis results, tailored output, and application history. Components read/write to this shared store so data persists as the user moves between steps.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DEPLOYMENT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56032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LOCAL 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ADCFC"/>
                </a:solidFill>
                <a:latin typeface="Calibri"/>
              </a:defRPr>
            </a:pPr>
            <a:r>
              <a:t>Developer's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Code changes</a:t>
            </a:r>
            <a:br/>
            <a:r>
              <a:t>npm run dev</a:t>
            </a:r>
            <a:br/>
            <a:r>
              <a:t>Test at localhost:3000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2651760"/>
            <a:ext cx="365760" cy="32004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46304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463040"/>
            <a:ext cx="256032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GIT PUSH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ADCFC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774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git add → commit → push</a:t>
            </a:r>
            <a:br/>
            <a:r>
              <a:t>Code review via PRs</a:t>
            </a:r>
            <a:br/>
            <a:r>
              <a:t>Branch protection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52160" y="2651760"/>
            <a:ext cx="365760" cy="32004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2560320" cy="6400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ADCFC"/>
                </a:solidFill>
                <a:latin typeface="Calibri"/>
              </a:defRPr>
            </a:pPr>
            <a:r>
              <a:t>Vercel CI/CD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Detects push to main</a:t>
            </a:r>
            <a:br/>
            <a:r>
              <a:t>Builds Next.js app</a:t>
            </a:r>
            <a:br/>
            <a:r>
              <a:t>Runs checks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40" y="2651760"/>
            <a:ext cx="365760" cy="320040"/>
          </a:xfrm>
          <a:prstGeom prst="rightArrow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146304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63040"/>
            <a:ext cx="2560320" cy="64008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508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828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ADCFC"/>
                </a:solidFill>
                <a:latin typeface="Calibri"/>
              </a:defRPr>
            </a:pPr>
            <a:r>
              <a:t>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3774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Auto-deployed</a:t>
            </a:r>
            <a:br/>
            <a:r>
              <a:t>HTTPS enabled</a:t>
            </a:r>
            <a:br/>
            <a:r>
              <a:t>Global CDN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73152" cy="137160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761"/>
                </a:solidFill>
                <a:latin typeface="Calibri"/>
              </a:defRPr>
            </a:pPr>
            <a:r>
              <a:t>ENVIRONMENT VARIABLES (Secrets)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03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ANTHROPIC_API_KEY — Claude API access (set in Vercel dashboard, never in code)</a:t>
            </a:r>
            <a:br/>
            <a:r>
              <a:t>NEXTAUTH_SECRET — Authentication encryption key</a:t>
            </a:r>
            <a:br/>
            <a:r>
              <a:t>REDIS_URL — Redis connection for data persistence</a:t>
            </a:r>
            <a:br/>
            <a:br/>
            <a:r>
              <a:t>These are stored securely in Vercel's environment settings and .env.local (gitignored) for local dev.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COLLABORATION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GIT BRANCHING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91440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Production-ready code. Vercel deploys from here.</a:t>
            </a:r>
            <a:br/>
            <a:r>
              <a:t>Only merge via pull requests.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040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337560"/>
            <a:ext cx="2560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kiran/feature-name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Kiran's feature branches.</a:t>
            </a:r>
            <a:br/>
            <a:r>
              <a:t>Work here, then create a PR to merge into 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530352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709160"/>
            <a:ext cx="2560320" cy="2743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90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harshit/feature-name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Calibri"/>
              </a:defRPr>
            </a:pPr>
            <a:r>
              <a:t>Harshit's feature branches.</a:t>
            </a:r>
            <a:br/>
            <a:r>
              <a:t>Same workflow — branch, develop, PR, merge.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DAILY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856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1. Pull latest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562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B4D8"/>
                </a:solidFill>
                <a:latin typeface="Consolas"/>
              </a:defRPr>
            </a:pPr>
            <a:r>
              <a:t>git pull origin 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48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Get Harshit's latest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0604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6334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2. Create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633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B4D8"/>
                </a:solidFill>
                <a:latin typeface="Consolas"/>
              </a:defRPr>
            </a:pPr>
            <a:r>
              <a:t>git checkout -b kiran/my-feature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926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Work in your own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38328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107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3. Make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B4D8"/>
                </a:solidFill>
                <a:latin typeface="Consolas"/>
              </a:defRPr>
            </a:pPr>
            <a:r>
              <a:t>Edit files, test with npm run dev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703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Build and verify locally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16052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1879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4. Commit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187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B4D8"/>
                </a:solidFill>
                <a:latin typeface="Consolas"/>
              </a:defRPr>
            </a:pPr>
            <a:r>
              <a:t>git add . &amp;&amp; git commit -m "description"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Save your changes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93776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965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5. Push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965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B4D8"/>
                </a:solidFill>
                <a:latin typeface="Consolas"/>
              </a:defRPr>
            </a:pPr>
            <a:r>
              <a:t>git push origin kiran/my-feature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257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Upload to GitHub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715000"/>
            <a:ext cx="530352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7424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6. Create PR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742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B4D8"/>
                </a:solidFill>
                <a:latin typeface="Consolas"/>
              </a:defRPr>
            </a:pPr>
            <a:r>
              <a:t>Open Pull Request on GitHub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6035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B8D"/>
                </a:solidFill>
                <a:latin typeface="Calibri"/>
              </a:defRPr>
            </a:pPr>
            <a:r>
              <a:t>Request Harshit's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PRODUCT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45920"/>
            <a:ext cx="2606040" cy="3840480"/>
          </a:xfrm>
          <a:prstGeom prst="roundRect">
            <a:avLst/>
          </a:prstGeom>
          <a:solidFill>
            <a:srgbClr val="1A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B8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1691640" cy="2743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Resume Tailoring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Core AI-powered resume parsing,</a:t>
            </a:r>
            <a:br/>
            <a:r>
              <a:t>job analysis, and tailoring.</a:t>
            </a:r>
            <a:br/>
            <a:r>
              <a:t>Cover letter generation.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645920"/>
            <a:ext cx="2606040" cy="3840480"/>
          </a:xfrm>
          <a:prstGeom prst="roundRect">
            <a:avLst/>
          </a:prstGeom>
          <a:solidFill>
            <a:srgbClr val="1A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B8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2194560"/>
            <a:ext cx="1691640" cy="2743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1762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Chrome Extension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7472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One-click job capture from</a:t>
            </a:r>
            <a:br/>
            <a:r>
              <a:t>job boards. Auto-fill job</a:t>
            </a:r>
            <a:br/>
            <a:r>
              <a:t>descriptions into the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606040" cy="3840480"/>
          </a:xfrm>
          <a:prstGeom prst="roundRect">
            <a:avLst/>
          </a:prstGeom>
          <a:solidFill>
            <a:srgbClr val="1A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B8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194560"/>
            <a:ext cx="1691640" cy="274320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1762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Auto-Apply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7472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Automated form filling and</a:t>
            </a:r>
            <a:br/>
            <a:r>
              <a:t>job submission. Apply to</a:t>
            </a:r>
            <a:br/>
            <a:r>
              <a:t>multiple jobs at scale.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645920"/>
            <a:ext cx="2606040" cy="3840480"/>
          </a:xfrm>
          <a:prstGeom prst="roundRect">
            <a:avLst/>
          </a:prstGeom>
          <a:solidFill>
            <a:srgbClr val="1A2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82880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B7B8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194560"/>
            <a:ext cx="1691640" cy="2743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17627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7432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47472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Supabase integration for</a:t>
            </a:r>
            <a:br/>
            <a:r>
              <a:t>persistence. PDF upload/export.</a:t>
            </a:r>
            <a:br/>
            <a:r>
              <a:t>Application analytics.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B8D"/>
                </a:solidFill>
                <a:latin typeface="Calibri"/>
              </a:defRPr>
            </a:pPr>
            <a:r>
              <a:t>Built with collaboration between Kiran &amp; Harshit  |  Deployed on Vercel  |  Powered by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